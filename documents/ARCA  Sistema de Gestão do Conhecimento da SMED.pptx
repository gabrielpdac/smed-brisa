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strument Sans Medium"/>
      <p:regular r:id="rId14"/>
      <p:bold r:id="rId15"/>
      <p:italic r:id="rId16"/>
      <p:boldItalic r:id="rId17"/>
    </p:embeddedFont>
    <p:embeddedFont>
      <p:font typeface="Instrument Sans SemiBold"/>
      <p:regular r:id="rId18"/>
      <p:bold r:id="rId19"/>
      <p:italic r:id="rId20"/>
      <p:boldItalic r:id="rId21"/>
    </p:embeddedFont>
    <p:embeddedFont>
      <p:font typeface="Outfit"/>
      <p:regular r:id="rId22"/>
      <p:bold r:id="rId23"/>
    </p:embeddedFont>
    <p:embeddedFont>
      <p:font typeface="Instrument Sans"/>
      <p:regular r:id="rId24"/>
      <p:bold r:id="rId25"/>
      <p:italic r:id="rId26"/>
      <p:boldItalic r:id="rId27"/>
    </p:embeddedFont>
    <p:embeddedFont>
      <p:font typeface="Outfit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InstrumentSansSemiBold-italic.fntdata"/><Relationship Id="rId22" Type="http://schemas.openxmlformats.org/officeDocument/2006/relationships/font" Target="fonts/Outfit-regular.fntdata"/><Relationship Id="rId21" Type="http://schemas.openxmlformats.org/officeDocument/2006/relationships/font" Target="fonts/InstrumentSansSemiBold-boldItalic.fntdata"/><Relationship Id="rId24" Type="http://schemas.openxmlformats.org/officeDocument/2006/relationships/font" Target="fonts/InstrumentSans-regular.fntdata"/><Relationship Id="rId23" Type="http://schemas.openxmlformats.org/officeDocument/2006/relationships/font" Target="fonts/Outfit-bold.fntdata"/><Relationship Id="rId26" Type="http://schemas.openxmlformats.org/officeDocument/2006/relationships/font" Target="fonts/InstrumentSans-italic.fntdata"/><Relationship Id="rId25" Type="http://schemas.openxmlformats.org/officeDocument/2006/relationships/font" Target="fonts/InstrumentSans-bold.fntdata"/><Relationship Id="rId28" Type="http://schemas.openxmlformats.org/officeDocument/2006/relationships/font" Target="fonts/OutfitSemiBold-regular.fntdata"/><Relationship Id="rId27" Type="http://schemas.openxmlformats.org/officeDocument/2006/relationships/font" Target="fonts/InstrumentSans-boldItalic.fntdata"/><Relationship Id="rId29" Type="http://schemas.openxmlformats.org/officeDocument/2006/relationships/font" Target="fonts/Outfit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strumentSansMedium-bold.fntdata"/><Relationship Id="rId14" Type="http://schemas.openxmlformats.org/officeDocument/2006/relationships/font" Target="fonts/InstrumentSansMedium-regular.fntdata"/><Relationship Id="rId17" Type="http://schemas.openxmlformats.org/officeDocument/2006/relationships/font" Target="fonts/InstrumentSansMedium-boldItalic.fntdata"/><Relationship Id="rId16" Type="http://schemas.openxmlformats.org/officeDocument/2006/relationships/font" Target="fonts/InstrumentSansMedium-italic.fntdata"/><Relationship Id="rId19" Type="http://schemas.openxmlformats.org/officeDocument/2006/relationships/font" Target="fonts/InstrumentSansSemiBold-bold.fntdata"/><Relationship Id="rId18" Type="http://schemas.openxmlformats.org/officeDocument/2006/relationships/font" Target="fonts/Instrument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8d40090c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8d40090c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14406740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a14406740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77203f6ab_1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c77203f6ab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8d40090ce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8d40090ce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935dda029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935dda029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935dda029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935dda029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35dda029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935dda029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35dda029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935dda029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" name="Google Shape;10;p2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" name="Google Shape;24;p4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6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2" name="Google Shape;32;p6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" name="Google Shape;36;p7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7" name="Google Shape;37;p7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8" name="Google Shape;38;p7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9" name="Google Shape;39;p7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0" name="Google Shape;40;p7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1" name="Google Shape;41;p7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" name="Google Shape;42;p7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3" name="Google Shape;43;p7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" name="Google Shape;56;p8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" name="Google Shape;57;p8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" name="Google Shape;58;p8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" name="Google Shape;59;p8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" name="Google Shape;60;p8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8" name="Google Shape;68;p9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9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0" name="Google Shape;70;p9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1" name="Google Shape;71;p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2" name="Google Shape;72;p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80" name="Google Shape;80;p10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11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" name="Google Shape;86;p11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7" name="Google Shape;87;p11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0" name="Google Shape;90;p11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91" name="Google Shape;91;p11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5" name="Google Shape;95;p12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7" name="Google Shape;97;p12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p1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2" name="Google Shape;102;p1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" name="Google Shape;105;p13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" name="Google Shape;106;p13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7" name="Google Shape;107;p13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8" name="Google Shape;108;p13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0" name="Google Shape;110;p13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2" name="Google Shape;112;p13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3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13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" name="Google Shape;121;p14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22" name="Google Shape;122;p14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23" name="Google Shape;123;p14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4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4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4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4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9" name="Google Shape;129;p14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2" name="Google Shape;132;p15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3" name="Google Shape;133;p15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4" name="Google Shape;134;p15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5" name="Google Shape;135;p15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6" name="Google Shape;136;p15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7" name="Google Shape;137;p15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8" name="Google Shape;138;p15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9" name="Google Shape;139;p15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0" name="Google Shape;140;p15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1" name="Google Shape;141;p15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2" name="Google Shape;142;p15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3" name="Google Shape;143;p15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4" name="Google Shape;144;p15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5" name="Google Shape;145;p15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9" name="Google Shape;149;p16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57" name="Google Shape;157;p16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8" name="Google Shape;158;p16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2" name="Google Shape;162;p17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3" name="Google Shape;163;p17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17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5" name="Google Shape;165;p17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17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7" name="Google Shape;167;p17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17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9" name="Google Shape;169;p17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0" name="Google Shape;170;p17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1" name="Google Shape;171;p17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2" name="Google Shape;172;p17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4" name="Google Shape;174;p17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18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18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2" name="Google Shape;182;p18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3" name="Google Shape;183;p18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4" name="Google Shape;184;p18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5" name="Google Shape;185;p18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186" name="Google Shape;186;p1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87" name="Google Shape;187;p1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1" name="Google Shape;191;p19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2" name="Google Shape;192;p19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19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19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6" name="Google Shape;196;p19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19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1" name="Google Shape;201;p19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3" name="Google Shape;203;p19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20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0" name="Google Shape;210;p20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1" name="Google Shape;211;p20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3" name="Google Shape;213;p20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14" name="Google Shape;214;p20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20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9" name="Google Shape;219;p21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1" name="Google Shape;221;p21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4" name="Google Shape;224;p21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2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2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5" name="Google Shape;235;p22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23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9" name="Google Shape;239;p23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23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1" name="Google Shape;241;p23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2" name="Google Shape;242;p23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3" name="Google Shape;243;p23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4" name="Google Shape;244;p23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23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6" name="Google Shape;246;p23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7" name="Google Shape;247;p23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0" name="Google Shape;250;p24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1" name="Google Shape;251;p24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2" name="Google Shape;252;p24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4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4" name="Google Shape;254;p24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5" name="Google Shape;255;p24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56" name="Google Shape;256;p24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7" name="Google Shape;257;p24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8" name="Google Shape;258;p24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9" name="Google Shape;259;p24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0" name="Google Shape;260;p24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1" name="Google Shape;261;p24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264" name="Google Shape;264;p25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25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25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25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25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25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6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6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6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6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26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26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26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26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26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27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287" name="Google Shape;287;p27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8" name="Google Shape;288;p27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27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1" name="Google Shape;291;p27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27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7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4" name="Google Shape;294;p27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27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8" name="Google Shape;298;p28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2" name="Google Shape;302;p28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7" name="Google Shape;307;p28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8" name="Google Shape;308;p28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9" name="Google Shape;309;p28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0" name="Google Shape;310;p28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1" name="Google Shape;311;p28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2" name="Google Shape;312;p28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3" name="Google Shape;313;p28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6" name="Google Shape;3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5" name="Google Shape;33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6" name="Google Shape;33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1" name="Google Shape;3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45" name="Google Shape;345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3" name="Google Shape;35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7" name="Google Shape;357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4" name="Google Shape;364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5" name="Google Shape;365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5" name="Google Shape;375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1" name="Google Shape;381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7" name="Google Shape;3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8" name="Google Shape;388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9" name="Google Shape;389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9" name="Google Shape;399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0" name="Google Shape;400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11" name="Google Shape;411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youtube.com/watch?v=WYxFbfaXjBs" TargetMode="External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bstract texture of raised wave shapes on a white surface. " id="418" name="Google Shape;418;p50"/>
          <p:cNvPicPr preferRelativeResize="0"/>
          <p:nvPr/>
        </p:nvPicPr>
        <p:blipFill rotWithShape="1">
          <a:blip r:embed="rId3">
            <a:alphaModFix amt="50000"/>
          </a:blip>
          <a:srcRect b="0" l="23649" r="43594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19" name="Google Shape;419;p50"/>
          <p:cNvSpPr txBox="1"/>
          <p:nvPr>
            <p:ph idx="1" type="subTitle"/>
          </p:nvPr>
        </p:nvSpPr>
        <p:spPr>
          <a:xfrm>
            <a:off x="1008000" y="3160075"/>
            <a:ext cx="2547000" cy="133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Gabriel Pereira da Conceição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Henrique Gonzaga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Luiza Pedrasani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Pâmela Nicole Nunes Oliveira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Thiago Luis França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Prof. Orientador: Alessandro Ott Reinhardt</a:t>
            </a:r>
            <a:br>
              <a:rPr lang="en" sz="1000"/>
            </a:br>
            <a:r>
              <a:rPr lang="en" sz="1000"/>
              <a:t>Coordenador: Dr. Maurício Ferreira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Contato SMED: Daniela Andara</a:t>
            </a:r>
            <a:endParaRPr sz="1000"/>
          </a:p>
        </p:txBody>
      </p:sp>
      <p:sp>
        <p:nvSpPr>
          <p:cNvPr id="420" name="Google Shape;420;p50"/>
          <p:cNvSpPr txBox="1"/>
          <p:nvPr>
            <p:ph type="title"/>
          </p:nvPr>
        </p:nvSpPr>
        <p:spPr>
          <a:xfrm>
            <a:off x="1008000" y="374572"/>
            <a:ext cx="5911800" cy="27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Sistema de Gestão do Conhecimento da Secretaria Municipal Educação (SMED)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</p:txBody>
      </p:sp>
      <p:sp>
        <p:nvSpPr>
          <p:cNvPr id="421" name="Google Shape;421;p50"/>
          <p:cNvSpPr txBox="1"/>
          <p:nvPr>
            <p:ph idx="3" type="subTitle"/>
          </p:nvPr>
        </p:nvSpPr>
        <p:spPr>
          <a:xfrm>
            <a:off x="7285575" y="4417494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 de novembro de 2025.</a:t>
            </a:r>
            <a:endParaRPr/>
          </a:p>
        </p:txBody>
      </p:sp>
      <p:pic>
        <p:nvPicPr>
          <p:cNvPr descr="Logotipo&#10;&#10;O conteúdo gerado por IA pode estar incorreto." id="422" name="Google Shape;42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5438" y="3791700"/>
            <a:ext cx="981499" cy="252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aca de letreiro luminoso&#10;&#10;Descrição gerada automaticamente com confiança média" id="423" name="Google Shape;42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5163" y="3760600"/>
            <a:ext cx="919102" cy="315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8713" y="4359113"/>
            <a:ext cx="4066526" cy="4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/>
          <p:nvPr/>
        </p:nvSpPr>
        <p:spPr>
          <a:xfrm>
            <a:off x="282432" y="266705"/>
            <a:ext cx="25599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 </a:t>
            </a:r>
            <a:endParaRPr sz="1050"/>
          </a:p>
        </p:txBody>
      </p:sp>
      <p:sp>
        <p:nvSpPr>
          <p:cNvPr id="426" name="Google Shape;426;p50"/>
          <p:cNvSpPr txBox="1"/>
          <p:nvPr/>
        </p:nvSpPr>
        <p:spPr>
          <a:xfrm>
            <a:off x="4289713" y="3443575"/>
            <a:ext cx="15060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Realizacação:</a:t>
            </a:r>
            <a:endParaRPr b="1" sz="12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50"/>
          <p:cNvSpPr txBox="1"/>
          <p:nvPr/>
        </p:nvSpPr>
        <p:spPr>
          <a:xfrm>
            <a:off x="3493650" y="4139725"/>
            <a:ext cx="15060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Apoio</a:t>
            </a:r>
            <a:r>
              <a:rPr b="1" lang="en"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endParaRPr b="1" sz="12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/>
          <p:nvPr/>
        </p:nvSpPr>
        <p:spPr>
          <a:xfrm>
            <a:off x="495550" y="460650"/>
            <a:ext cx="8258700" cy="42222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33" name="Google Shape;433;p51"/>
          <p:cNvSpPr txBox="1"/>
          <p:nvPr>
            <p:ph idx="4294967295" type="title"/>
          </p:nvPr>
        </p:nvSpPr>
        <p:spPr>
          <a:xfrm>
            <a:off x="515800" y="528525"/>
            <a:ext cx="8027700" cy="40899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Dificuldade para </a:t>
            </a:r>
            <a:r>
              <a:rPr b="1" lang="en" sz="2900">
                <a:highlight>
                  <a:schemeClr val="dk2"/>
                </a:highlight>
              </a:rPr>
              <a:t>localizar os arquivos</a:t>
            </a:r>
            <a:r>
              <a:rPr lang="en" sz="2900"/>
              <a:t> institucionais.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Falta de </a:t>
            </a:r>
            <a:r>
              <a:rPr b="1" lang="en" sz="2900">
                <a:highlight>
                  <a:schemeClr val="dk2"/>
                </a:highlight>
              </a:rPr>
              <a:t>acesso público</a:t>
            </a:r>
            <a:r>
              <a:rPr lang="en" sz="2900"/>
              <a:t> às revistas e artigos escolares.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" sz="2900">
                <a:highlight>
                  <a:schemeClr val="dk2"/>
                </a:highlight>
              </a:rPr>
              <a:t>Descentralização</a:t>
            </a:r>
            <a:r>
              <a:rPr lang="en" sz="2900"/>
              <a:t> dos conteúdos audiovisuais.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Gerenciar </a:t>
            </a:r>
            <a:r>
              <a:rPr b="1" lang="en" sz="2900">
                <a:highlight>
                  <a:schemeClr val="dk2"/>
                </a:highlight>
              </a:rPr>
              <a:t>aprovação dos conteúdos</a:t>
            </a:r>
            <a:r>
              <a:rPr lang="en" sz="2900">
                <a:highlight>
                  <a:schemeClr val="dk2"/>
                </a:highlight>
              </a:rPr>
              <a:t> </a:t>
            </a:r>
            <a:r>
              <a:rPr lang="en" sz="2900"/>
              <a:t>públicos</a:t>
            </a:r>
            <a:endParaRPr sz="2900"/>
          </a:p>
        </p:txBody>
      </p:sp>
      <p:sp>
        <p:nvSpPr>
          <p:cNvPr id="434" name="Google Shape;434;p51"/>
          <p:cNvSpPr txBox="1"/>
          <p:nvPr>
            <p:ph idx="4294967295" type="title"/>
          </p:nvPr>
        </p:nvSpPr>
        <p:spPr>
          <a:xfrm>
            <a:off x="3015400" y="579450"/>
            <a:ext cx="3219000" cy="6855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u="sng"/>
              <a:t>Problemas</a:t>
            </a:r>
            <a:endParaRPr sz="5200" u="s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2"/>
          <p:cNvSpPr/>
          <p:nvPr/>
        </p:nvSpPr>
        <p:spPr>
          <a:xfrm>
            <a:off x="495550" y="460650"/>
            <a:ext cx="8258700" cy="42222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0" name="Google Shape;440;p52"/>
          <p:cNvSpPr txBox="1"/>
          <p:nvPr>
            <p:ph idx="4294967295" type="title"/>
          </p:nvPr>
        </p:nvSpPr>
        <p:spPr>
          <a:xfrm>
            <a:off x="515800" y="528525"/>
            <a:ext cx="8027700" cy="40899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Desenvolvendo um sistema Web que permite </a:t>
            </a:r>
            <a:r>
              <a:rPr b="1" lang="en" sz="3600">
                <a:highlight>
                  <a:schemeClr val="dk2"/>
                </a:highlight>
              </a:rPr>
              <a:t>linkar e organizar</a:t>
            </a:r>
            <a:r>
              <a:rPr lang="en" sz="3600"/>
              <a:t> arquivos, artigos e vídeos educacionais, </a:t>
            </a:r>
            <a:r>
              <a:rPr b="1" lang="en" sz="3600">
                <a:highlight>
                  <a:schemeClr val="dk2"/>
                </a:highlight>
              </a:rPr>
              <a:t>facilitando o acesso e a gestão</a:t>
            </a:r>
            <a:r>
              <a:rPr b="1" lang="en" sz="3600"/>
              <a:t> </a:t>
            </a:r>
            <a:r>
              <a:rPr lang="en" sz="3600"/>
              <a:t>do conteúdo.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441" name="Google Shape;441;p52"/>
          <p:cNvSpPr txBox="1"/>
          <p:nvPr>
            <p:ph idx="4294967295" type="title"/>
          </p:nvPr>
        </p:nvSpPr>
        <p:spPr>
          <a:xfrm>
            <a:off x="3085350" y="579450"/>
            <a:ext cx="2973300" cy="6855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u="sng"/>
              <a:t>Solução</a:t>
            </a:r>
            <a:endParaRPr sz="5200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3"/>
          <p:cNvSpPr/>
          <p:nvPr/>
        </p:nvSpPr>
        <p:spPr>
          <a:xfrm flipH="1">
            <a:off x="4725839" y="1273972"/>
            <a:ext cx="20862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53"/>
          <p:cNvSpPr/>
          <p:nvPr/>
        </p:nvSpPr>
        <p:spPr>
          <a:xfrm flipH="1">
            <a:off x="4725841" y="2390947"/>
            <a:ext cx="2086200" cy="59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53"/>
          <p:cNvSpPr/>
          <p:nvPr/>
        </p:nvSpPr>
        <p:spPr>
          <a:xfrm flipH="1">
            <a:off x="6921213" y="2390947"/>
            <a:ext cx="2086200" cy="59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9" name="Google Shape;449;p53"/>
          <p:cNvSpPr/>
          <p:nvPr/>
        </p:nvSpPr>
        <p:spPr>
          <a:xfrm flipH="1">
            <a:off x="6921213" y="3047388"/>
            <a:ext cx="2086200" cy="59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0" name="Google Shape;450;p53"/>
          <p:cNvSpPr/>
          <p:nvPr/>
        </p:nvSpPr>
        <p:spPr>
          <a:xfrm flipH="1">
            <a:off x="2461130" y="2390947"/>
            <a:ext cx="2086200" cy="59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1" name="Google Shape;451;p53"/>
          <p:cNvSpPr/>
          <p:nvPr/>
        </p:nvSpPr>
        <p:spPr>
          <a:xfrm flipH="1">
            <a:off x="6921212" y="1273972"/>
            <a:ext cx="20862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2" name="Google Shape;452;p53"/>
          <p:cNvSpPr txBox="1"/>
          <p:nvPr>
            <p:ph idx="3" type="subTitle"/>
          </p:nvPr>
        </p:nvSpPr>
        <p:spPr>
          <a:xfrm>
            <a:off x="4853277" y="2629272"/>
            <a:ext cx="18411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MariaDB</a:t>
            </a:r>
            <a:endParaRPr/>
          </a:p>
        </p:txBody>
      </p:sp>
      <p:sp>
        <p:nvSpPr>
          <p:cNvPr id="453" name="Google Shape;453;p53"/>
          <p:cNvSpPr txBox="1"/>
          <p:nvPr>
            <p:ph idx="4" type="subTitle"/>
          </p:nvPr>
        </p:nvSpPr>
        <p:spPr>
          <a:xfrm>
            <a:off x="7048648" y="2629272"/>
            <a:ext cx="18411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454" name="Google Shape;454;p53"/>
          <p:cNvSpPr txBox="1"/>
          <p:nvPr>
            <p:ph idx="1" type="subTitle"/>
          </p:nvPr>
        </p:nvSpPr>
        <p:spPr>
          <a:xfrm>
            <a:off x="4853273" y="1679497"/>
            <a:ext cx="18411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Database</a:t>
            </a:r>
            <a:endParaRPr b="1"/>
          </a:p>
        </p:txBody>
      </p:sp>
      <p:sp>
        <p:nvSpPr>
          <p:cNvPr id="455" name="Google Shape;455;p53"/>
          <p:cNvSpPr txBox="1"/>
          <p:nvPr>
            <p:ph idx="6" type="subTitle"/>
          </p:nvPr>
        </p:nvSpPr>
        <p:spPr>
          <a:xfrm>
            <a:off x="7048648" y="3285713"/>
            <a:ext cx="18411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</a:t>
            </a:r>
            <a:r>
              <a:rPr lang="en"/>
              <a:t>GitHub</a:t>
            </a:r>
            <a:endParaRPr/>
          </a:p>
        </p:txBody>
      </p:sp>
      <p:sp>
        <p:nvSpPr>
          <p:cNvPr id="456" name="Google Shape;456;p53"/>
          <p:cNvSpPr txBox="1"/>
          <p:nvPr>
            <p:ph idx="7" type="subTitle"/>
          </p:nvPr>
        </p:nvSpPr>
        <p:spPr>
          <a:xfrm>
            <a:off x="2588566" y="2629272"/>
            <a:ext cx="18411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JS</a:t>
            </a:r>
            <a:endParaRPr/>
          </a:p>
        </p:txBody>
      </p:sp>
      <p:sp>
        <p:nvSpPr>
          <p:cNvPr id="457" name="Google Shape;457;p53"/>
          <p:cNvSpPr txBox="1"/>
          <p:nvPr>
            <p:ph idx="8" type="subTitle"/>
          </p:nvPr>
        </p:nvSpPr>
        <p:spPr>
          <a:xfrm>
            <a:off x="7003814" y="1666072"/>
            <a:ext cx="18411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Infra</a:t>
            </a:r>
            <a:endParaRPr b="1"/>
          </a:p>
        </p:txBody>
      </p:sp>
      <p:sp>
        <p:nvSpPr>
          <p:cNvPr id="458" name="Google Shape;458;p53"/>
          <p:cNvSpPr/>
          <p:nvPr/>
        </p:nvSpPr>
        <p:spPr>
          <a:xfrm flipH="1">
            <a:off x="237506" y="1273972"/>
            <a:ext cx="20862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9" name="Google Shape;459;p53"/>
          <p:cNvSpPr/>
          <p:nvPr/>
        </p:nvSpPr>
        <p:spPr>
          <a:xfrm flipH="1">
            <a:off x="237511" y="2390947"/>
            <a:ext cx="2086200" cy="59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0" name="Google Shape;460;p53"/>
          <p:cNvSpPr/>
          <p:nvPr/>
        </p:nvSpPr>
        <p:spPr>
          <a:xfrm flipH="1">
            <a:off x="237511" y="3047388"/>
            <a:ext cx="2086200" cy="59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1" name="Google Shape;461;p53"/>
          <p:cNvSpPr txBox="1"/>
          <p:nvPr>
            <p:ph idx="3" type="subTitle"/>
          </p:nvPr>
        </p:nvSpPr>
        <p:spPr>
          <a:xfrm>
            <a:off x="364947" y="2629272"/>
            <a:ext cx="18411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21</a:t>
            </a:r>
            <a:endParaRPr/>
          </a:p>
        </p:txBody>
      </p:sp>
      <p:sp>
        <p:nvSpPr>
          <p:cNvPr id="462" name="Google Shape;462;p53"/>
          <p:cNvSpPr txBox="1"/>
          <p:nvPr>
            <p:ph idx="1" type="subTitle"/>
          </p:nvPr>
        </p:nvSpPr>
        <p:spPr>
          <a:xfrm>
            <a:off x="364940" y="1679497"/>
            <a:ext cx="18411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Backend</a:t>
            </a:r>
            <a:endParaRPr b="1"/>
          </a:p>
        </p:txBody>
      </p:sp>
      <p:sp>
        <p:nvSpPr>
          <p:cNvPr id="463" name="Google Shape;463;p53"/>
          <p:cNvSpPr txBox="1"/>
          <p:nvPr>
            <p:ph idx="5" type="subTitle"/>
          </p:nvPr>
        </p:nvSpPr>
        <p:spPr>
          <a:xfrm>
            <a:off x="364947" y="3285713"/>
            <a:ext cx="18411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Boot</a:t>
            </a:r>
            <a:endParaRPr/>
          </a:p>
        </p:txBody>
      </p:sp>
      <p:sp>
        <p:nvSpPr>
          <p:cNvPr id="464" name="Google Shape;464;p53"/>
          <p:cNvSpPr/>
          <p:nvPr/>
        </p:nvSpPr>
        <p:spPr>
          <a:xfrm flipH="1">
            <a:off x="2461574" y="1273959"/>
            <a:ext cx="20862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5" name="Google Shape;465;p53"/>
          <p:cNvSpPr txBox="1"/>
          <p:nvPr>
            <p:ph idx="8" type="subTitle"/>
          </p:nvPr>
        </p:nvSpPr>
        <p:spPr>
          <a:xfrm>
            <a:off x="2589008" y="1679484"/>
            <a:ext cx="18411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Frontend</a:t>
            </a:r>
            <a:endParaRPr b="1"/>
          </a:p>
        </p:txBody>
      </p:sp>
      <p:sp>
        <p:nvSpPr>
          <p:cNvPr id="466" name="Google Shape;466;p53"/>
          <p:cNvSpPr/>
          <p:nvPr/>
        </p:nvSpPr>
        <p:spPr>
          <a:xfrm flipH="1">
            <a:off x="2461130" y="3047388"/>
            <a:ext cx="2086200" cy="59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53"/>
          <p:cNvSpPr txBox="1"/>
          <p:nvPr>
            <p:ph idx="7" type="subTitle"/>
          </p:nvPr>
        </p:nvSpPr>
        <p:spPr>
          <a:xfrm>
            <a:off x="2547300" y="3297350"/>
            <a:ext cx="1841100" cy="30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Vercel ou EC2 ou proprietário</a:t>
            </a:r>
            <a:endParaRPr/>
          </a:p>
        </p:txBody>
      </p:sp>
      <p:sp>
        <p:nvSpPr>
          <p:cNvPr id="468" name="Google Shape;468;p53"/>
          <p:cNvSpPr/>
          <p:nvPr/>
        </p:nvSpPr>
        <p:spPr>
          <a:xfrm flipH="1">
            <a:off x="237500" y="3703852"/>
            <a:ext cx="2086200" cy="7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53"/>
          <p:cNvSpPr txBox="1"/>
          <p:nvPr>
            <p:ph idx="5" type="subTitle"/>
          </p:nvPr>
        </p:nvSpPr>
        <p:spPr>
          <a:xfrm>
            <a:off x="364950" y="3942179"/>
            <a:ext cx="1841100" cy="3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- EC2 ou Proprietário</a:t>
            </a:r>
            <a:endParaRPr/>
          </a:p>
        </p:txBody>
      </p:sp>
      <p:sp>
        <p:nvSpPr>
          <p:cNvPr id="470" name="Google Shape;470;p53"/>
          <p:cNvSpPr/>
          <p:nvPr/>
        </p:nvSpPr>
        <p:spPr>
          <a:xfrm flipH="1">
            <a:off x="6926088" y="3711598"/>
            <a:ext cx="2086200" cy="5940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53"/>
          <p:cNvSpPr txBox="1"/>
          <p:nvPr>
            <p:ph idx="6" type="subTitle"/>
          </p:nvPr>
        </p:nvSpPr>
        <p:spPr>
          <a:xfrm>
            <a:off x="7053523" y="3941784"/>
            <a:ext cx="18411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</a:t>
            </a:r>
            <a:endParaRPr/>
          </a:p>
        </p:txBody>
      </p:sp>
      <p:sp>
        <p:nvSpPr>
          <p:cNvPr id="472" name="Google Shape;472;p53"/>
          <p:cNvSpPr/>
          <p:nvPr/>
        </p:nvSpPr>
        <p:spPr>
          <a:xfrm flipH="1">
            <a:off x="4740350" y="3047401"/>
            <a:ext cx="2086200" cy="7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3" name="Google Shape;473;p53"/>
          <p:cNvSpPr txBox="1"/>
          <p:nvPr>
            <p:ph idx="3" type="subTitle"/>
          </p:nvPr>
        </p:nvSpPr>
        <p:spPr>
          <a:xfrm>
            <a:off x="4867775" y="3285726"/>
            <a:ext cx="1841100" cy="35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- RDS ou proprietário</a:t>
            </a:r>
            <a:endParaRPr/>
          </a:p>
        </p:txBody>
      </p:sp>
      <p:sp>
        <p:nvSpPr>
          <p:cNvPr id="474" name="Google Shape;474;p53"/>
          <p:cNvSpPr txBox="1"/>
          <p:nvPr>
            <p:ph idx="4294967295" type="title"/>
          </p:nvPr>
        </p:nvSpPr>
        <p:spPr>
          <a:xfrm>
            <a:off x="2413800" y="117525"/>
            <a:ext cx="4316400" cy="8118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/>
          <p:nvPr/>
        </p:nvSpPr>
        <p:spPr>
          <a:xfrm>
            <a:off x="0" y="0"/>
            <a:ext cx="9144000" cy="5143500"/>
          </a:xfrm>
          <a:prstGeom prst="round2DiagRect">
            <a:avLst>
              <a:gd fmla="val 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0" name="Google Shape;480;p54"/>
          <p:cNvSpPr txBox="1"/>
          <p:nvPr>
            <p:ph idx="4294967295" type="title"/>
          </p:nvPr>
        </p:nvSpPr>
        <p:spPr>
          <a:xfrm>
            <a:off x="515800" y="1161825"/>
            <a:ext cx="8027700" cy="34566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Centralização dos recursos em um único sistema Web.</a:t>
            </a:r>
            <a:endParaRPr b="1" sz="2900">
              <a:highlight>
                <a:schemeClr val="dk2"/>
              </a:highlight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Gerenciamento dos </a:t>
            </a:r>
            <a:r>
              <a:rPr b="1" lang="en" sz="2900">
                <a:highlight>
                  <a:schemeClr val="dk2"/>
                </a:highlight>
              </a:rPr>
              <a:t>documentos instucionais e </a:t>
            </a:r>
            <a:r>
              <a:rPr b="1" lang="en" sz="2900">
                <a:highlight>
                  <a:schemeClr val="dk2"/>
                </a:highlight>
              </a:rPr>
              <a:t>conteúdo audiovisual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Criação de uma </a:t>
            </a:r>
            <a:r>
              <a:rPr b="1" lang="en" sz="2900">
                <a:highlight>
                  <a:schemeClr val="dk2"/>
                </a:highlight>
              </a:rPr>
              <a:t>revista pública</a:t>
            </a:r>
            <a:r>
              <a:rPr b="1" lang="en" sz="2900"/>
              <a:t> </a:t>
            </a:r>
            <a:r>
              <a:rPr lang="en" sz="2900"/>
              <a:t>para publicação de </a:t>
            </a:r>
            <a:r>
              <a:rPr b="1" lang="en" sz="2900">
                <a:highlight>
                  <a:schemeClr val="dk2"/>
                </a:highlight>
              </a:rPr>
              <a:t>artigos escolares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Busca otimizada dos conteúdos.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" sz="2900">
                <a:highlight>
                  <a:schemeClr val="dk2"/>
                </a:highlight>
              </a:rPr>
              <a:t>Controle de usuários</a:t>
            </a:r>
            <a:r>
              <a:rPr lang="en" sz="2900"/>
              <a:t> e permissões. 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" sz="2900"/>
              <a:t>Aprovação de conteúdos </a:t>
            </a:r>
            <a:r>
              <a:rPr lang="en" sz="2900"/>
              <a:t>publicados</a:t>
            </a:r>
            <a:r>
              <a:rPr lang="en" sz="2900"/>
              <a:t>.</a:t>
            </a:r>
            <a:endParaRPr sz="2900"/>
          </a:p>
        </p:txBody>
      </p:sp>
      <p:sp>
        <p:nvSpPr>
          <p:cNvPr id="481" name="Google Shape;481;p54"/>
          <p:cNvSpPr txBox="1"/>
          <p:nvPr>
            <p:ph idx="4294967295" type="title"/>
          </p:nvPr>
        </p:nvSpPr>
        <p:spPr>
          <a:xfrm>
            <a:off x="2360700" y="282900"/>
            <a:ext cx="4316400" cy="8118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Benefícios</a:t>
            </a:r>
            <a:endParaRPr sz="5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5"/>
          <p:cNvSpPr txBox="1"/>
          <p:nvPr>
            <p:ph type="title"/>
          </p:nvPr>
        </p:nvSpPr>
        <p:spPr>
          <a:xfrm>
            <a:off x="1922850" y="2165850"/>
            <a:ext cx="5298300" cy="8118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Demonstração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 Final" id="491" name="Google Shape;491;p56" title="Projeto SMED - BRISA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00" y="42863"/>
            <a:ext cx="8991600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7"/>
          <p:cNvSpPr txBox="1"/>
          <p:nvPr>
            <p:ph type="title"/>
          </p:nvPr>
        </p:nvSpPr>
        <p:spPr>
          <a:xfrm>
            <a:off x="2708400" y="2110950"/>
            <a:ext cx="3727200" cy="8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